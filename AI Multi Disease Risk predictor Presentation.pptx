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AAB0F-DDB9-4F47-8193-65F6436BBE34}" type="datetimeFigureOut">
              <a:rPr lang="" smtClean="0"/>
              <a:t>05/05/2026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D35B6-A2CC-C44D-BF78-151B3A58E172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95277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jpg" /><Relationship Id="rId4" Type="http://schemas.openxmlformats.org/officeDocument/2006/relationships/image" Target="../media/image5.jp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9.jp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0.jp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jpg" /><Relationship Id="rId4" Type="http://schemas.openxmlformats.org/officeDocument/2006/relationships/image" Target="../media/image12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DE3F2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777240"/>
            <a:ext cx="2560320" cy="329184"/>
          </a:xfrm>
          <a:prstGeom prst="roundRect">
            <a:avLst>
              <a:gd name="adj" fmla="val 27778"/>
            </a:avLst>
          </a:prstGeom>
          <a:solidFill>
            <a:srgbClr val="DDE3F2"/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777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5FE0"/>
                </a:solidFill>
              </a:rPr>
              <a:t>University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Multi-Disease Risk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02996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Diabetes &amp; Heart Disease Risk with Intelligent Models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Zafar &amp; Yasal Gandapur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RAHBAR MEDICAL AND DENTAL COLLEGE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26464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17320"/>
            <a:ext cx="5303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Burden: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Diabetes and heart disease cases are increasing rapidly worldwide.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7627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167128"/>
            <a:ext cx="5303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Timely identification is the key to reducing long-term complications.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0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2916936"/>
            <a:ext cx="5303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Issues: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healthcare settings lack expensive, advanced diagnostic tools.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75888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3666744"/>
            <a:ext cx="5303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Learning can assist clinicians by using simple, routine patient data.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675120" y="1463040"/>
            <a:ext cx="1828800" cy="1828800"/>
          </a:xfrm>
          <a:prstGeom prst="ellipse">
            <a:avLst/>
          </a:prstGeom>
          <a:solidFill>
            <a:srgbClr val="DDE3F2">
              <a:alpha val="80000"/>
            </a:srgbClr>
          </a:solidFill>
          <a:ln w="12700">
            <a:solidFill>
              <a:srgbClr val="DDE3F2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903720" y="2331720"/>
            <a:ext cx="1371600" cy="54864"/>
          </a:xfrm>
          <a:prstGeom prst="rect">
            <a:avLst/>
          </a:prstGeom>
          <a:solidFill>
            <a:srgbClr val="4472F5"/>
          </a:solidFill>
          <a:ln w="12700">
            <a:solidFill>
              <a:srgbClr val="4472F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931920" cy="228600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machine learning models capable of predicting the risk of: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3931920" cy="228600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Integration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simple and non-invasive clinical parameters for easy screening: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542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Blood Pressure, and Glucose levels.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and Sample Size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931920" cy="178308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47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26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Dataset: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~768 samples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Dataset: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~920 samples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" y="3246120"/>
            <a:ext cx="3931920" cy="150876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649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33467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94360" y="3749040"/>
            <a:ext cx="3566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Public medical datasets repository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Trusted research datasets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4447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13248" y="14264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Ethical Statement</a:t>
            </a:r>
            <a:endParaRPr lang="en-US" sz="1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93852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40096" y="1901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is publicly available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505456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40096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or patient-identifiable data is used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7238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40096" y="30358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Complies with ethical data usage standards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800600" y="3657600"/>
            <a:ext cx="393192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4800600" y="3657600"/>
            <a:ext cx="54864" cy="9144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919472" y="3694176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datasets used in this study are publicly available and used strictly for academic and research purposes."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1148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645920"/>
            <a:ext cx="1645920" cy="411480"/>
          </a:xfrm>
          <a:prstGeom prst="ellipse">
            <a:avLst/>
          </a:prstGeom>
          <a:solidFill>
            <a:srgbClr val="4472F5"/>
          </a:solidFill>
          <a:ln w="12700">
            <a:solidFill>
              <a:srgbClr val="447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828800"/>
            <a:ext cx="1645920" cy="731520"/>
          </a:xfrm>
          <a:prstGeom prst="rect">
            <a:avLst/>
          </a:prstGeom>
          <a:solidFill>
            <a:srgbClr val="4472F5"/>
          </a:solidFill>
          <a:ln w="12700">
            <a:solidFill>
              <a:srgbClr val="447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377440"/>
            <a:ext cx="1645920" cy="411480"/>
          </a:xfrm>
          <a:prstGeom prst="ellipse">
            <a:avLst/>
          </a:prstGeom>
          <a:solidFill>
            <a:srgbClr val="4472F5"/>
          </a:solidFill>
          <a:ln w="12700">
            <a:solidFill>
              <a:srgbClr val="447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2743200"/>
            <a:ext cx="1645920" cy="685800"/>
          </a:xfrm>
          <a:prstGeom prst="rect">
            <a:avLst/>
          </a:prstGeom>
          <a:solidFill>
            <a:srgbClr val="4472F5"/>
          </a:solidFill>
          <a:ln w="12700">
            <a:solidFill>
              <a:srgbClr val="447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246120"/>
            <a:ext cx="1645920" cy="411480"/>
          </a:xfrm>
          <a:prstGeom prst="ellipse">
            <a:avLst/>
          </a:prstGeom>
          <a:solidFill>
            <a:srgbClr val="4472F5"/>
          </a:solidFill>
          <a:ln w="12700">
            <a:solidFill>
              <a:srgbClr val="447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utilized two comprehensive medical datasets for model training: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84832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6636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Dataset: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Focused on glucose and metabolic indicators.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6207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Dataset: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Focused on BP and cardiovascular features.</a:t>
            </a:r>
            <a:endParaRPr lang="en-US" sz="1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3931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3611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Features: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BMI, Glucose, Insulin, Blood Pressure, and Age.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904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63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Removed unnecessary variables to reduce noise.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3172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3042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Focus: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Selected vital features most relevant to diagnosis.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72968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31455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Definition: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Defined binary target variables (Disease vs. No Disease).</a:t>
            </a:r>
            <a:endParaRPr lang="en-US" sz="1600" dirty="0"/>
          </a:p>
        </p:txBody>
      </p:sp>
      <p:pic>
        <p:nvPicPr>
          <p:cNvPr id="10" name="Image 3" descr="/mnt/user-data/uploads/100019119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1920240" cy="1920240"/>
          </a:xfrm>
          <a:prstGeom prst="rect">
            <a:avLst/>
          </a:prstGeom>
        </p:spPr>
      </p:pic>
      <p:pic>
        <p:nvPicPr>
          <p:cNvPr id="11" name="Image 4" descr="/mnt/user-data/uploads/100019119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05840"/>
            <a:ext cx="1920240" cy="19202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4632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Dataset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685800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3931920" cy="246888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yet powerful statistical model used for binary classification tasks. It serves as our baseline model for performance comparison.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1508760"/>
            <a:ext cx="3931920" cy="246888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83480" y="2377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788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ensemble model that uses multiple decision trees to improve prediction accuracy and handle complex data relationships.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workflow follows a systematic pipeline to ensure reliable results: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562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Feeding patient clinical parameters.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060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5786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identifies patterns between features and disease outcomes.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5584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33284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Testing accuracy using real-world clinical benchmarks.</a:t>
            </a:r>
            <a:endParaRPr lang="en-US" sz="1600" dirty="0"/>
          </a:p>
        </p:txBody>
      </p:sp>
      <p:pic>
        <p:nvPicPr>
          <p:cNvPr id="11" name="Image 3" descr="/mnt/user-data/uploads/100019119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60120"/>
            <a:ext cx="3931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4114800" cy="237744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 Accuracy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 Accuracy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Range: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– 0.67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this specific case, Logistic Regression performed slightly better than the advanced ensemble model."</a:t>
            </a:r>
            <a:endParaRPr lang="en-US" sz="1500" dirty="0"/>
          </a:p>
        </p:txBody>
      </p:sp>
      <p:pic>
        <p:nvPicPr>
          <p:cNvPr id="8" name="Image 0" descr="/mnt/user-data/uploads/10001911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05840"/>
            <a:ext cx="3931920" cy="1874520"/>
          </a:xfrm>
          <a:prstGeom prst="rect">
            <a:avLst/>
          </a:prstGeom>
        </p:spPr>
      </p:pic>
      <p:pic>
        <p:nvPicPr>
          <p:cNvPr id="9" name="Image 1" descr="/mnt/user-data/uploads/100019119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393192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Multi-Class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904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Mapping: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predicts across multiple health categories.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5915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Hits: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Visible on the diagonal of the matrix.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27832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moderate performance with some misclassifications between adjacent risk levels.</a:t>
            </a:r>
            <a:endParaRPr lang="en-US" sz="1600" dirty="0"/>
          </a:p>
        </p:txBody>
      </p:sp>
      <p:pic>
        <p:nvPicPr>
          <p:cNvPr id="10" name="Image 3" descr="/mnt/user-data/uploads/10001911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3931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Binary Model</a:t>
            </a:r>
            <a:endParaRPr lang="en-US" sz="3600" dirty="0"/>
          </a:p>
        </p:txBody>
      </p:sp>
      <p:pic>
        <p:nvPicPr>
          <p:cNvPr id="4" name="Image 0" descr="/mnt/user-data/uploads/10001911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41148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Breakdown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9339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924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(No Disease): 422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5176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9240" y="26243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(Disease): 157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10128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49240" y="32826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Some false positives and false negatives exist.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937760" y="3886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performs reasonably well but requires further tuning for clinical perfection.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Operating Characteristic (ROC) curve evaluates the model's sensitivity vs. specificity: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3911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0116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Diagonal: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Curve stays above the 0.5 threshold, indicating better-than-random prediction.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0779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880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(0.62–0.67):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Acceptable but moderate predictive performance.</a:t>
            </a:r>
            <a:endParaRPr lang="en-US" sz="1600" dirty="0"/>
          </a:p>
        </p:txBody>
      </p:sp>
      <p:pic>
        <p:nvPicPr>
          <p:cNvPr id="9" name="Image 2" descr="/mnt/user-data/uploads/10001911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3931920" cy="1874520"/>
          </a:xfrm>
          <a:prstGeom prst="rect">
            <a:avLst/>
          </a:prstGeom>
        </p:spPr>
      </p:pic>
      <p:pic>
        <p:nvPicPr>
          <p:cNvPr id="10" name="Image 3" descr="/mnt/user-data/uploads/100019119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26080"/>
            <a:ext cx="393192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Discussion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011680" cy="2011680"/>
          </a:xfrm>
          <a:prstGeom prst="ellipse">
            <a:avLst/>
          </a:prstGeom>
          <a:solidFill>
            <a:srgbClr val="DDE3F2">
              <a:alpha val="80000"/>
            </a:srgbClr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533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11880" y="132588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Proves that models can work with very simple clinical data.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1031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11880" y="207568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 are moderate, showing the complexity of medical diagnosis.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85292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11880" y="2825496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Constraints: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 accuracy is heavily dependent on the quality and size of the training dataset.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02736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11880" y="3575304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Improvements in data preprocessing and cleaning can significantly boost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697480" cy="301752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4206240"/>
            <a:ext cx="2697480" cy="274320"/>
          </a:xfrm>
          <a:prstGeom prst="rect">
            <a:avLst/>
          </a:prstGeom>
          <a:solidFill>
            <a:srgbClr val="3B5FE0">
              <a:alpha val="30000"/>
            </a:srgbClr>
          </a:solidFill>
          <a:ln w="12700">
            <a:solidFill>
              <a:srgbClr val="3B5FE0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effectively predict disease risk from routine parameters.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97480" cy="301752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4206240"/>
            <a:ext cx="2697480" cy="274320"/>
          </a:xfrm>
          <a:prstGeom prst="rect">
            <a:avLst/>
          </a:prstGeom>
          <a:solidFill>
            <a:srgbClr val="3B5FE0">
              <a:alpha val="30000"/>
            </a:srgbClr>
          </a:solidFill>
          <a:ln w="12700">
            <a:solidFill>
              <a:srgbClr val="3B5FE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56432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2761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useful as an early screening tool to prevent severe complications.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2697480" cy="301752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4206240"/>
            <a:ext cx="2697480" cy="274320"/>
          </a:xfrm>
          <a:prstGeom prst="rect">
            <a:avLst/>
          </a:prstGeom>
          <a:solidFill>
            <a:srgbClr val="3B5FE0">
              <a:alpha val="30000"/>
            </a:srgbClr>
          </a:solidFill>
          <a:ln w="12700">
            <a:solidFill>
              <a:srgbClr val="3B5FE0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904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64224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4224" y="2761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basic clinical data, making it accessible for basic health centers.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63440"/>
          </a:xfrm>
          <a:prstGeom prst="rect">
            <a:avLst/>
          </a:prstGeom>
          <a:solidFill>
            <a:srgbClr val="FFF5F5"/>
          </a:solidFill>
          <a:ln w="25400">
            <a:solidFill>
              <a:srgbClr val="FF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05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model is for screening purposes only and is not intended for final medical diagnosis."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DISCLAIMER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4008" cy="685800"/>
          </a:xfrm>
          <a:prstGeom prst="rect">
            <a:avLst/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697480" cy="301752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4206240"/>
            <a:ext cx="2697480" cy="274320"/>
          </a:xfrm>
          <a:prstGeom prst="rect">
            <a:avLst/>
          </a:prstGeom>
          <a:solidFill>
            <a:srgbClr val="3B5FE0">
              <a:alpha val="30000"/>
            </a:srgbClr>
          </a:solidFill>
          <a:ln w="12700">
            <a:solidFill>
              <a:srgbClr val="3B5FE0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diverse and larger patient datasets for better generalization.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97480" cy="301752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4206240"/>
            <a:ext cx="2697480" cy="274320"/>
          </a:xfrm>
          <a:prstGeom prst="rect">
            <a:avLst/>
          </a:prstGeom>
          <a:solidFill>
            <a:srgbClr val="3B5FE0">
              <a:alpha val="30000"/>
            </a:srgbClr>
          </a:solidFill>
          <a:ln w="12700">
            <a:solidFill>
              <a:srgbClr val="3B5FE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56432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Tuning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2761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Deep Learning or Hyperparameter tuning to boost AUC scores.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2697480" cy="3017520"/>
          </a:xfrm>
          <a:prstGeom prst="rect">
            <a:avLst/>
          </a:prstGeom>
          <a:solidFill>
            <a:srgbClr val="F1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4206240"/>
            <a:ext cx="2697480" cy="274320"/>
          </a:xfrm>
          <a:prstGeom prst="rect">
            <a:avLst/>
          </a:prstGeom>
          <a:solidFill>
            <a:srgbClr val="3B5FE0">
              <a:alpha val="30000"/>
            </a:srgbClr>
          </a:solidFill>
          <a:ln w="12700">
            <a:solidFill>
              <a:srgbClr val="3B5FE0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904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64224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4224" y="276148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 or web application for real-time risk assessment.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attention during this presentation.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3375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E3A7A"/>
          </a:solidFill>
          <a:ln w="25400">
            <a:solidFill>
              <a:srgbClr val="3B5F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hamzazafar120@gmail.com</cp:lastModifiedBy>
  <cp:revision>2</cp:revision>
  <dcterms:created xsi:type="dcterms:W3CDTF">2026-05-04T21:19:58Z</dcterms:created>
  <dcterms:modified xsi:type="dcterms:W3CDTF">2026-05-04T21:29:45Z</dcterms:modified>
</cp:coreProperties>
</file>